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Patil" userId="26a561c1f6d1b717" providerId="LiveId" clId="{A3616675-7C7E-45E7-987C-01BFEC890E30}"/>
    <pc:docChg chg="modSld">
      <pc:chgData name="Soham Patil" userId="26a561c1f6d1b717" providerId="LiveId" clId="{A3616675-7C7E-45E7-987C-01BFEC890E30}" dt="2025-10-14T16:15:53.287" v="1" actId="20577"/>
      <pc:docMkLst>
        <pc:docMk/>
      </pc:docMkLst>
      <pc:sldChg chg="modSp mod">
        <pc:chgData name="Soham Patil" userId="26a561c1f6d1b717" providerId="LiveId" clId="{A3616675-7C7E-45E7-987C-01BFEC890E30}" dt="2025-10-14T16:15:53.287" v="1" actId="20577"/>
        <pc:sldMkLst>
          <pc:docMk/>
          <pc:sldMk cId="2569779523" sldId="256"/>
        </pc:sldMkLst>
        <pc:spChg chg="mod">
          <ac:chgData name="Soham Patil" userId="26a561c1f6d1b717" providerId="LiveId" clId="{A3616675-7C7E-45E7-987C-01BFEC890E30}" dt="2025-10-14T16:15:53.287" v="1" actId="20577"/>
          <ac:spMkLst>
            <pc:docMk/>
            <pc:sldMk cId="2569779523" sldId="256"/>
            <ac:spMk id="12" creationId="{D4297B61-52A4-A285-E5E4-523B5EFFAA93}"/>
          </ac:spMkLst>
        </pc:spChg>
      </pc:sldChg>
    </pc:docChg>
  </pc:docChgLst>
  <pc:docChgLst>
    <pc:chgData name="Soham Patil" userId="26a561c1f6d1b717" providerId="LiveId" clId="{1CBFD915-666E-4D11-BCC3-852A989AF7BF}"/>
    <pc:docChg chg="addSld modSld">
      <pc:chgData name="Soham Patil" userId="26a561c1f6d1b717" providerId="LiveId" clId="{1CBFD915-666E-4D11-BCC3-852A989AF7BF}" dt="2025-06-30T10:20:23.720" v="27" actId="20577"/>
      <pc:docMkLst>
        <pc:docMk/>
      </pc:docMkLst>
      <pc:sldChg chg="addSp delSp modSp new mod">
        <pc:chgData name="Soham Patil" userId="26a561c1f6d1b717" providerId="LiveId" clId="{1CBFD915-666E-4D11-BCC3-852A989AF7BF}" dt="2025-06-30T10:20:23.720" v="27" actId="20577"/>
        <pc:sldMkLst>
          <pc:docMk/>
          <pc:sldMk cId="321623753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DDF0F-BBE1-48F3-9776-3D21E21AF89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E700A-E733-4C2C-A920-6555202B8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5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E700A-E733-4C2C-A920-6555202B87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86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0C82-86C1-052C-1D27-CC78C3F79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61D7D-BEDC-1CFB-8A14-5674C93F1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CAE02-A57C-C396-7A08-FA57D3B8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B5F44-9A1F-6F06-65B3-852F6A39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A71FE-7256-C935-8695-9860828F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5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7C6D-A945-4827-981E-03D78D56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7135-9680-B149-9563-1CCBCBFF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C38D-DE43-B0F8-413F-0526A2B9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4EDCC-12AE-BAB2-67B9-7A5D17CE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A35D-F65A-003C-D879-BD11C482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76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3417-58DD-393E-028B-E8EECF738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E630B-6A32-4F1E-FBF7-10F604927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21791-7A08-D11E-F127-A393FC20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F8D6B-487C-35B8-8775-0695EDB8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D95AB-27C8-003B-74AA-1E3F5BE8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8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056B-8A25-6B3D-DAF6-914B38AA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E6CC7-7DC4-C1D9-FC48-1A5BB2A46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C74A-182C-FDBF-A789-F633F8DC5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2A8DA-71F4-B158-AA88-3C5E2632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56EFF-7D1E-6E33-9A52-E168E740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F6962-8DE7-B03A-1EE0-81FCEB15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85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6AF0-CCEE-3036-43DB-8745A514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67249-801D-0B99-C154-56D8E74BC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F8C45-159F-C426-2665-56247F7B4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44068-F274-265F-A4C5-FA2E88E18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C91A9-E1E9-DF07-F69A-C98AC4599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13995E-9AFE-1909-E1FC-2AFC2AE3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B1E94-C470-08B5-522B-DA38B4CD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F902C-6384-19A5-D391-033CC11F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1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D558-D499-3386-4EF7-AFF5E1CE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E6165-0BBF-D878-C66E-5D5902F6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5B3FA-1160-99C7-5B4C-43BBF955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8570-A763-5B77-BDED-7A435207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2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B23BC-4E5C-7B37-5D92-017BC087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23032-39ED-4B0B-1EB7-0F5A856A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BFAD2-E3E5-202F-CD97-9B68A540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2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55DE-D66D-AB8B-D7E2-B12416E7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6BCD9-B25F-5DB0-CDB1-E7E50654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B990C-DECA-1787-0D8A-E723CB7B3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0A5-CCC5-3FE2-62E2-020922CE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4C8E3-FF01-4CD3-2AC8-34F7633B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E4F3B-97A4-F182-10EA-47EC1E16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0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FBE-9D58-6B92-FBF4-EF05E475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5B60B-47EE-DBCA-1160-4CC3BD0EA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5B1CA-25FE-88D2-C6A7-EBD8D1C5F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81D26-AD51-C091-5FB4-2D5BC98E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4B093-9868-6602-8F2C-F441FB53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F1756-4958-3CB5-2A24-1FCAE1BD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43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EF40-11D6-2AC8-7DA3-9ED01F14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C55B7-BDCB-4F25-2868-5597D4F9C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ED8C-594C-DA6B-1E3A-A1CCFEB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4A2C7-9624-AEC6-2BFA-0342B784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558F-5E56-1B8E-E679-4145B64C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9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39165-DCE0-AAB3-B64C-B4B4411CD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C36CC-18E1-6638-DE3A-392DE8749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DA20-25B1-10D3-372F-2D01CE5E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F4EC0-5DAA-4DD0-113C-62A801C1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4DA2-5833-8668-B609-7BBC09CD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2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8D2F8-0203-D383-3502-710E15C8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EEF81-8F6A-75BF-1DA9-01739B3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3248-CE15-9048-497E-3D46F485F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DC2AE-027C-4A3A-83EB-48DEB6AD6D8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218BD-9885-1DFC-161F-865A95B4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E635A-D880-C8A2-079A-6BA2C2A67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9FCB6-BD77-4097-91E8-27E093544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5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D4297B61-52A4-A285-E5E4-523B5EFF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13" y="1263882"/>
            <a:ext cx="11818374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en-US" sz="3600" dirty="0"/>
              <a:t>ustomer churn analytics for the banking industry</a:t>
            </a:r>
            <a:endParaRPr kumimoji="0" lang="en-US" altLang="en-US" sz="3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data-driven exploration into churn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US" altLang="en-US" sz="3200" b="1" dirty="0">
                <a:latin typeface="Arial" panose="020B0604020202020204" pitchFamily="34" charset="0"/>
              </a:rPr>
              <a:t>:- </a:t>
            </a:r>
            <a:r>
              <a:rPr lang="en-US" altLang="en-US" sz="3200" dirty="0">
                <a:latin typeface="Arial" panose="020B0604020202020204" pitchFamily="34" charset="0"/>
              </a:rPr>
              <a:t>Soham Patil  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Arial" panose="020B0604020202020204" pitchFamily="34" charset="0"/>
              </a:rPr>
              <a:t>Branch:- </a:t>
            </a:r>
            <a:r>
              <a:rPr lang="en-US" altLang="en-US" sz="3200" dirty="0">
                <a:latin typeface="Arial" panose="020B0604020202020204" pitchFamily="34" charset="0"/>
              </a:rPr>
              <a:t>MBA(BA) 2</a:t>
            </a:r>
            <a:r>
              <a:rPr lang="en-US" altLang="en-US" sz="3200" baseline="30000" dirty="0">
                <a:latin typeface="Arial" panose="020B0604020202020204" pitchFamily="34" charset="0"/>
              </a:rPr>
              <a:t>nd</a:t>
            </a:r>
            <a:r>
              <a:rPr lang="en-US" altLang="en-US" sz="3200" dirty="0">
                <a:latin typeface="Arial" panose="020B0604020202020204" pitchFamily="34" charset="0"/>
              </a:rPr>
              <a:t> Sem.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</a:t>
            </a:r>
            <a:r>
              <a:rPr lang="en-US" altLang="en-US" sz="3200" b="1" dirty="0">
                <a:latin typeface="Arial" panose="020B0604020202020204" pitchFamily="34" charset="0"/>
              </a:rPr>
              <a:t>:- </a:t>
            </a:r>
            <a:r>
              <a:rPr lang="en-US" altLang="en-US" sz="3200" dirty="0">
                <a:latin typeface="Arial" panose="020B0604020202020204" pitchFamily="34" charset="0"/>
              </a:rPr>
              <a:t>30-06-2025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1346683-2702-1D5A-E6E9-5AB13CC26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3" y="393597"/>
            <a:ext cx="244792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1979524-5366-3792-2AF6-CA7C6AB7F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42" y="521329"/>
            <a:ext cx="2102345" cy="52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77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02750A-EC40-89F8-34AC-C7F2785F0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1102934"/>
            <a:ext cx="4994788" cy="2653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78EAC-12DC-67FE-01C6-E1940A36DC50}"/>
              </a:ext>
            </a:extLst>
          </p:cNvPr>
          <p:cNvSpPr txBox="1"/>
          <p:nvPr/>
        </p:nvSpPr>
        <p:spPr>
          <a:xfrm>
            <a:off x="3666913" y="127820"/>
            <a:ext cx="6018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DDL or Data Definition Commands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380D6-A413-18F8-AD40-2D9B12BC9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34" y="1129973"/>
            <a:ext cx="4994787" cy="2653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1A6F7-3337-9EB2-9D16-15DFF4D9B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3" y="4204519"/>
            <a:ext cx="4994787" cy="2653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719AFD-CCD4-2178-746F-2C33126E5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34" y="4200832"/>
            <a:ext cx="4994787" cy="265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0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8D7AE-F7C3-5861-A266-1338AA065FA7}"/>
              </a:ext>
            </a:extLst>
          </p:cNvPr>
          <p:cNvSpPr txBox="1"/>
          <p:nvPr/>
        </p:nvSpPr>
        <p:spPr>
          <a:xfrm>
            <a:off x="2885024" y="98323"/>
            <a:ext cx="6421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DML or Data Manipulation Language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6882C-156D-8D7A-94CC-5042EA217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3" y="924231"/>
            <a:ext cx="5443601" cy="2891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0DA7B6-BCAB-66B3-BE4A-72F6AEF4F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5" y="837519"/>
            <a:ext cx="5606824" cy="2978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0D6F89-EC46-FD11-069B-31E6CBA91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2" y="3867764"/>
            <a:ext cx="5443601" cy="2891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7E89AA-B489-9A77-037F-D85B6EB6D5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179" y="3970565"/>
            <a:ext cx="5289755" cy="281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7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92729-7577-123C-0D4D-A49B9ED6389B}"/>
              </a:ext>
            </a:extLst>
          </p:cNvPr>
          <p:cNvSpPr txBox="1"/>
          <p:nvPr/>
        </p:nvSpPr>
        <p:spPr>
          <a:xfrm>
            <a:off x="3607273" y="127820"/>
            <a:ext cx="4977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Explore Churn by Age Group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10415-7F7C-6D7A-1712-4AFAB214D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5" y="900881"/>
            <a:ext cx="10225548" cy="543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3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659F92-1733-7FB1-1829-7B904203914A}"/>
              </a:ext>
            </a:extLst>
          </p:cNvPr>
          <p:cNvSpPr txBox="1"/>
          <p:nvPr/>
        </p:nvSpPr>
        <p:spPr>
          <a:xfrm>
            <a:off x="4444181" y="108155"/>
            <a:ext cx="3462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Gender-wise Churn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C3CF5-F5DA-2698-CF27-B3C32293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" y="791495"/>
            <a:ext cx="10894142" cy="578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5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28F635-024D-102E-9AA6-C91CF7961CD2}"/>
              </a:ext>
            </a:extLst>
          </p:cNvPr>
          <p:cNvSpPr txBox="1"/>
          <p:nvPr/>
        </p:nvSpPr>
        <p:spPr>
          <a:xfrm>
            <a:off x="4070669" y="108155"/>
            <a:ext cx="4050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Geography-wise Churn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509B9-7BE8-B93C-16CA-F92FBB0A4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5" y="873596"/>
            <a:ext cx="10402530" cy="55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2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F6C45-1E34-CFEE-1DBF-550A1747ABA9}"/>
              </a:ext>
            </a:extLst>
          </p:cNvPr>
          <p:cNvSpPr txBox="1"/>
          <p:nvPr/>
        </p:nvSpPr>
        <p:spPr>
          <a:xfrm>
            <a:off x="4446061" y="98323"/>
            <a:ext cx="3299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Financial </a:t>
            </a:r>
            <a:r>
              <a:rPr lang="en-IN" sz="3200" b="1" dirty="0" err="1"/>
              <a:t>Behavior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BC955-355E-0037-28C2-4874D1487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96" y="2297920"/>
            <a:ext cx="5761703" cy="3060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FEEA1C-7E43-83C6-3DF9-2A98F7B59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703" y="2297920"/>
            <a:ext cx="5761703" cy="3060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75FD2E-CCEF-10AB-8BE5-98A28ADD5BC4}"/>
              </a:ext>
            </a:extLst>
          </p:cNvPr>
          <p:cNvSpPr txBox="1"/>
          <p:nvPr/>
        </p:nvSpPr>
        <p:spPr>
          <a:xfrm>
            <a:off x="929192" y="1713881"/>
            <a:ext cx="429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balance and salary by churn status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40FDD-5823-4A00-6724-F3FAC8D1C5E6}"/>
              </a:ext>
            </a:extLst>
          </p:cNvPr>
          <p:cNvSpPr txBox="1"/>
          <p:nvPr/>
        </p:nvSpPr>
        <p:spPr>
          <a:xfrm>
            <a:off x="7607087" y="1713881"/>
            <a:ext cx="3164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Credit Card ownership vs churn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0053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6A878D-D1EF-9197-7E14-5BA0F22A2F60}"/>
              </a:ext>
            </a:extLst>
          </p:cNvPr>
          <p:cNvSpPr txBox="1"/>
          <p:nvPr/>
        </p:nvSpPr>
        <p:spPr>
          <a:xfrm>
            <a:off x="2048770" y="0"/>
            <a:ext cx="8094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Summary Stats Query (Credit Score &amp; Balance)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AA380-64EE-012A-0F59-820F89B6C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51" y="763536"/>
            <a:ext cx="11002297" cy="584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2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2E0FF4-13C4-2FB3-15F1-A14D7EB373CF}"/>
              </a:ext>
            </a:extLst>
          </p:cNvPr>
          <p:cNvSpPr txBox="1"/>
          <p:nvPr/>
        </p:nvSpPr>
        <p:spPr>
          <a:xfrm>
            <a:off x="1781197" y="137652"/>
            <a:ext cx="862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customer churn analytics for the banking industry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5FB126-AA17-8FBE-911D-5B7507AF8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401548"/>
              </p:ext>
            </p:extLst>
          </p:nvPr>
        </p:nvGraphicFramePr>
        <p:xfrm>
          <a:off x="2032000" y="129976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671">
                  <a:extLst>
                    <a:ext uri="{9D8B030D-6E8A-4147-A177-3AD203B41FA5}">
                      <a16:colId xmlns:a16="http://schemas.microsoft.com/office/drawing/2014/main" val="3518317257"/>
                    </a:ext>
                  </a:extLst>
                </a:gridCol>
                <a:gridCol w="5627329">
                  <a:extLst>
                    <a:ext uri="{9D8B030D-6E8A-4147-A177-3AD203B41FA5}">
                      <a16:colId xmlns:a16="http://schemas.microsoft.com/office/drawing/2014/main" val="1188463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Reason for Inclusion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74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Activity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direct indicator of customer engagement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10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Captures life-stage patterns influencing churn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97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Identifies financial importance of churned customers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Number of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Reveals cross-sell effectiveness and customer stickiness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2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Detects regional churn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0552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85CA56-6EDC-85DE-94F4-91E132A91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095271"/>
              </p:ext>
            </p:extLst>
          </p:nvPr>
        </p:nvGraphicFramePr>
        <p:xfrm>
          <a:off x="2032000" y="3524809"/>
          <a:ext cx="8128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00671">
                  <a:extLst>
                    <a:ext uri="{9D8B030D-6E8A-4147-A177-3AD203B41FA5}">
                      <a16:colId xmlns:a16="http://schemas.microsoft.com/office/drawing/2014/main" val="2271678195"/>
                    </a:ext>
                  </a:extLst>
                </a:gridCol>
                <a:gridCol w="5627329">
                  <a:extLst>
                    <a:ext uri="{9D8B030D-6E8A-4147-A177-3AD203B41FA5}">
                      <a16:colId xmlns:a16="http://schemas.microsoft.com/office/drawing/2014/main" val="489954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Flags risk-prone customer segments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12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offer behavioral segmentation, even if not dominant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45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401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5CE91-3A8F-5FD3-E987-BCA377C063B1}"/>
              </a:ext>
            </a:extLst>
          </p:cNvPr>
          <p:cNvSpPr txBox="1"/>
          <p:nvPr/>
        </p:nvSpPr>
        <p:spPr>
          <a:xfrm>
            <a:off x="216310" y="255639"/>
            <a:ext cx="1197569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/>
              <a:t>Summary: Customer Churn Analytics Report</a:t>
            </a:r>
          </a:p>
          <a:p>
            <a:pPr algn="ctr">
              <a:buNone/>
            </a:pPr>
            <a:endParaRPr lang="en-US" sz="3200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This report offers a data-driven analysis of customer churn within a banking dataset. Using SQL-based segmentation and statistical exploration, the report identifies key churn drivers such as: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Age</a:t>
            </a:r>
            <a:r>
              <a:rPr lang="en-US" dirty="0"/>
              <a:t>: Customers aged 46–60 show notably higher churn.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Gender &amp; Geography</a:t>
            </a:r>
            <a:r>
              <a:rPr lang="en-US" dirty="0"/>
              <a:t>: Churn patterns vary by region and demographic.</a:t>
            </a:r>
          </a:p>
          <a:p>
            <a:endParaRPr lang="en-US" dirty="0"/>
          </a:p>
          <a:p>
            <a:r>
              <a:rPr lang="en-US" b="1" dirty="0"/>
              <a:t>Financial Behavior</a:t>
            </a:r>
            <a:r>
              <a:rPr lang="en-US" dirty="0"/>
              <a:t>: High churn among low-product users and inactive members.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Balance &amp; Salary</a:t>
            </a:r>
            <a:r>
              <a:rPr lang="en-US" dirty="0"/>
              <a:t>: Churned customers often exhibit distinct financial profiles.</a:t>
            </a:r>
          </a:p>
          <a:p>
            <a:endParaRPr lang="en-US" dirty="0"/>
          </a:p>
          <a:p>
            <a:r>
              <a:rPr lang="en-US" dirty="0"/>
              <a:t>Key tools like DDL and DML commands were applied to build, query, and analyze the dataset. The report concludes with a statistical summary (mean, median, and standard deviation) for metrics like credit score and balance, reinforcing the presence of outliers and skewed data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321623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274</Words>
  <Application>Microsoft Office PowerPoint</Application>
  <PresentationFormat>Widescreen</PresentationFormat>
  <Paragraphs>50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Soham Patil</dc:creator>
  <cp:lastModifiedBy>Soham Patil</cp:lastModifiedBy>
  <cp:revision>1</cp:revision>
  <dcterms:created xsi:type="dcterms:W3CDTF">2025-06-30T10:13:29Z</dcterms:created>
  <dcterms:modified xsi:type="dcterms:W3CDTF">2025-10-14T16:15:55Z</dcterms:modified>
</cp:coreProperties>
</file>
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7192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179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0483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2636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2575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6227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296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1629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2395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9262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734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8399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Reducing Customer Churn: Final Focus Areas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  <a:defRPr sz="1800"/>
            </a:pPr>
            <a:r>
              <a:rPr lang="en-US" sz="2200" b="1" dirty="0"/>
              <a:t>This presentation outlines the top 3 action areas to reduce customer churn</a:t>
            </a:r>
            <a:endParaRPr lang="en-US" sz="2200" dirty="0"/>
          </a:p>
          <a:p>
            <a:pPr marL="0" indent="0" algn="ctr">
              <a:buNone/>
              <a:defRPr sz="1800"/>
            </a:pPr>
            <a:r>
              <a:rPr lang="en-US" sz="2200" b="1" dirty="0"/>
              <a:t>The focus is on using data-driven insights to propose practical business solutions</a:t>
            </a:r>
          </a:p>
          <a:p>
            <a:pPr marL="0" indent="0" algn="ctr">
              <a:buNone/>
              <a:defRPr sz="1800"/>
            </a:pPr>
            <a:endParaRPr lang="en-US" b="1" dirty="0"/>
          </a:p>
          <a:p>
            <a:pPr marL="0" indent="0" algn="ctr">
              <a:buNone/>
              <a:defRPr sz="1800"/>
            </a:pPr>
            <a:endParaRPr lang="en-US" dirty="0"/>
          </a:p>
          <a:p>
            <a:pPr marL="0" indent="0" algn="ctr">
              <a:buNone/>
              <a:defRPr sz="1800"/>
            </a:pPr>
            <a:endParaRPr lang="en-US" dirty="0"/>
          </a:p>
          <a:p>
            <a:pPr marL="0" indent="0">
              <a:buNone/>
              <a:defRPr sz="1800"/>
            </a:pPr>
            <a:r>
              <a:rPr lang="en-US" dirty="0"/>
              <a:t>Prepared by: Soham Patil</a:t>
            </a:r>
          </a:p>
          <a:p>
            <a:pPr marL="0" indent="0">
              <a:buNone/>
              <a:defRPr sz="1800"/>
            </a:pPr>
            <a:r>
              <a:rPr lang="en-US" dirty="0"/>
              <a:t>Date: 03-07-2025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Journey</a:t>
            </a:r>
            <a:r>
              <a:rPr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lang="en-US" dirty="0"/>
              <a:t>Started with a dataset of 10,000 banking customers</a:t>
            </a:r>
          </a:p>
          <a:p>
            <a:pPr>
              <a:defRPr sz="2000"/>
            </a:pPr>
            <a:r>
              <a:rPr dirty="0"/>
              <a:t>Analyzed 10,000 customer records using SQL</a:t>
            </a:r>
          </a:p>
          <a:p>
            <a:pPr>
              <a:defRPr sz="2000"/>
            </a:pPr>
            <a:r>
              <a:rPr lang="en-US" dirty="0"/>
              <a:t>Used SQL to explore churn patterns by segmenting based on age, geography, activity, and financial behavior</a:t>
            </a:r>
          </a:p>
          <a:p>
            <a:pPr>
              <a:defRPr sz="2000"/>
            </a:pPr>
            <a:r>
              <a:rPr lang="en-US" dirty="0"/>
              <a:t>Applied summary statistics, window functions, and churn rate calculations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Goal of This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Present 3 key areas where churn is highest</a:t>
            </a:r>
          </a:p>
          <a:p>
            <a:pPr>
              <a:defRPr sz="2000"/>
            </a:pPr>
            <a:r>
              <a:rPr dirty="0"/>
              <a:t>Explain why these areas matter</a:t>
            </a:r>
          </a:p>
          <a:p>
            <a:pPr>
              <a:defRPr sz="2000"/>
            </a:pPr>
            <a:r>
              <a:rPr dirty="0"/>
              <a:t>Propose clear, actionable ideas to address each area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FD99C-84FD-771E-174B-2C6F480A2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Top Three Focus 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8A247-0EC5-63C7-32FE-9D089B03F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IN" dirty="0"/>
              <a:t>Inactive Customers</a:t>
            </a:r>
          </a:p>
          <a:p>
            <a:pPr marL="457200" indent="-457200">
              <a:buAutoNum type="arabicPeriod"/>
            </a:pPr>
            <a:r>
              <a:rPr lang="en-IN" dirty="0"/>
              <a:t>Mid-Age Segment (46–60)</a:t>
            </a:r>
          </a:p>
          <a:p>
            <a:pPr marL="457200" indent="-457200">
              <a:buAutoNum type="arabicPeriod"/>
            </a:pPr>
            <a:r>
              <a:rPr lang="en-IN" dirty="0"/>
              <a:t>Single Product Users</a:t>
            </a:r>
          </a:p>
          <a:p>
            <a:pPr marL="457200" indent="-457200"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6236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Inactive Customers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lang="en-US" dirty="0"/>
              <a:t>Insight: Customers marked as 'inactive' are over 6 times more likely to churn.</a:t>
            </a:r>
          </a:p>
          <a:p>
            <a:pPr>
              <a:defRPr sz="1800"/>
            </a:pPr>
            <a:r>
              <a:rPr lang="en-US" dirty="0"/>
              <a:t>Why it matters: This group is low-touch but high-risk.</a:t>
            </a:r>
          </a:p>
          <a:p>
            <a:pPr>
              <a:defRPr sz="1800"/>
            </a:pPr>
            <a:r>
              <a:rPr lang="en-US" dirty="0"/>
              <a:t>Action Ideas:</a:t>
            </a:r>
          </a:p>
          <a:p>
            <a:pPr marL="342900" indent="-342900">
              <a:buFont typeface="+mj-lt"/>
              <a:buAutoNum type="arabicPeriod"/>
              <a:defRPr sz="1800"/>
            </a:pPr>
            <a:r>
              <a:rPr lang="en-US" dirty="0"/>
              <a:t>    Personalized reactivation campaigns (email/SMS/push notifications).</a:t>
            </a:r>
          </a:p>
          <a:p>
            <a:pPr marL="342900" indent="-342900">
              <a:buFont typeface="+mj-lt"/>
              <a:buAutoNum type="arabicPeriod"/>
              <a:defRPr sz="1800"/>
            </a:pPr>
            <a:r>
              <a:rPr lang="en-US" dirty="0"/>
              <a:t>    Exclusive offers or rewards for returning customers.</a:t>
            </a:r>
          </a:p>
          <a:p>
            <a:pPr marL="342900" indent="-342900">
              <a:buFont typeface="+mj-lt"/>
              <a:buAutoNum type="arabicPeriod"/>
              <a:defRPr sz="1800"/>
            </a:pPr>
            <a:r>
              <a:rPr lang="en-US" dirty="0"/>
              <a:t>    Set up automated engagement triggers after 30 days of inactivity.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Mid-Age Segment (46–60)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lang="en-US" dirty="0"/>
              <a:t>Insight: Churn rate is highest among customers aged 46–60.</a:t>
            </a:r>
          </a:p>
          <a:p>
            <a:pPr>
              <a:defRPr sz="1800"/>
            </a:pPr>
            <a:r>
              <a:rPr lang="en-US" dirty="0"/>
              <a:t>Why it matters: These customers are typically high-income and long-term.</a:t>
            </a:r>
          </a:p>
          <a:p>
            <a:pPr>
              <a:defRPr sz="1800"/>
            </a:pPr>
            <a:r>
              <a:rPr lang="en-US" dirty="0"/>
              <a:t>Action Ideas:</a:t>
            </a:r>
          </a:p>
          <a:p>
            <a:pPr marL="342900" indent="-342900">
              <a:buFont typeface="+mj-lt"/>
              <a:buAutoNum type="arabicPeriod"/>
              <a:defRPr sz="1800"/>
            </a:pPr>
            <a:r>
              <a:rPr lang="en-US" dirty="0"/>
              <a:t>   Provide mid-life financial wellness content and tools.</a:t>
            </a:r>
          </a:p>
          <a:p>
            <a:pPr marL="342900" indent="-342900">
              <a:buFont typeface="+mj-lt"/>
              <a:buAutoNum type="arabicPeriod"/>
              <a:defRPr sz="1800"/>
            </a:pPr>
            <a:r>
              <a:rPr lang="en-US" dirty="0"/>
              <a:t>   Offer personalized advisory services or relationship managers.</a:t>
            </a:r>
          </a:p>
          <a:p>
            <a:pPr marL="342900" indent="-342900">
              <a:buFont typeface="+mj-lt"/>
              <a:buAutoNum type="arabicPeriod"/>
              <a:defRPr sz="1800"/>
            </a:pPr>
            <a:r>
              <a:rPr lang="en-US" dirty="0"/>
              <a:t>   Recognize tenure with loyalty benefits or milestone rewards.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Single Product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lang="en-US" dirty="0"/>
              <a:t>Insight: Customers using only one product are 2–3 times more likely to churn.</a:t>
            </a:r>
          </a:p>
          <a:p>
            <a:pPr>
              <a:defRPr sz="1800"/>
            </a:pPr>
            <a:r>
              <a:rPr lang="en-US" dirty="0"/>
              <a:t>Why it matters: Product engagement is a strong retention driver.</a:t>
            </a:r>
          </a:p>
          <a:p>
            <a:pPr>
              <a:defRPr sz="1800"/>
            </a:pPr>
            <a:r>
              <a:rPr lang="en-US" dirty="0"/>
              <a:t>Action Ideas:</a:t>
            </a:r>
          </a:p>
          <a:p>
            <a:pPr marL="342900" indent="-342900">
              <a:buFont typeface="+mj-lt"/>
              <a:buAutoNum type="arabicPeriod"/>
              <a:defRPr sz="1800"/>
            </a:pPr>
            <a:r>
              <a:rPr lang="en-US" dirty="0"/>
              <a:t>   Design cross-sell campaigns using account behavior data.</a:t>
            </a:r>
          </a:p>
          <a:p>
            <a:pPr marL="342900" indent="-342900">
              <a:buFont typeface="+mj-lt"/>
              <a:buAutoNum type="arabicPeriod"/>
              <a:defRPr sz="1800"/>
            </a:pPr>
            <a:r>
              <a:rPr lang="en-US" dirty="0"/>
              <a:t>   Bundle products into attractive packages (e.g., savings + insurance).</a:t>
            </a:r>
          </a:p>
          <a:p>
            <a:pPr marL="342900" indent="-342900">
              <a:buFont typeface="+mj-lt"/>
              <a:buAutoNum type="arabicPeriod"/>
              <a:defRPr sz="1800"/>
            </a:pPr>
            <a:r>
              <a:rPr lang="en-US" dirty="0"/>
              <a:t>   Provide incentives for multi-product adoption (bonus interest, points).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Takeaway for 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lang="en-US" dirty="0"/>
              <a:t>These three segments </a:t>
            </a:r>
          </a:p>
          <a:p>
            <a:pPr marL="800100" lvl="1" indent="-342900">
              <a:buFont typeface="+mj-lt"/>
              <a:buAutoNum type="arabicPeriod"/>
              <a:defRPr sz="1800"/>
            </a:pPr>
            <a:r>
              <a:rPr lang="en-US" dirty="0"/>
              <a:t>Inactive Users </a:t>
            </a:r>
          </a:p>
          <a:p>
            <a:pPr marL="800100" lvl="1" indent="-342900">
              <a:buFont typeface="+mj-lt"/>
              <a:buAutoNum type="arabicPeriod"/>
              <a:defRPr sz="1800"/>
            </a:pPr>
            <a:r>
              <a:rPr lang="en-US" dirty="0"/>
              <a:t>Mid-Age Customer </a:t>
            </a:r>
          </a:p>
          <a:p>
            <a:pPr marL="800100" lvl="1" indent="-342900">
              <a:buFont typeface="+mj-lt"/>
              <a:buAutoNum type="arabicPeriod"/>
              <a:defRPr sz="1800"/>
            </a:pPr>
            <a:r>
              <a:rPr lang="en-US" dirty="0"/>
              <a:t>Single Product Holders </a:t>
            </a:r>
          </a:p>
          <a:p>
            <a:pPr>
              <a:defRPr sz="1800"/>
            </a:pPr>
            <a:r>
              <a:rPr lang="en-US" dirty="0"/>
              <a:t>With targeted actions in each area, the company can improve retention and customer lifetime value.</a:t>
            </a:r>
          </a:p>
          <a:p>
            <a:pPr>
              <a:defRPr sz="1800"/>
            </a:pPr>
            <a:r>
              <a:rPr lang="en-US" dirty="0"/>
              <a:t>Next Steps: Prioritize quick-win engagement tactics and build data-backed campaigns around these focus areas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37</TotalTime>
  <Words>363</Words>
  <Application>Microsoft Office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Gill Sans MT</vt:lpstr>
      <vt:lpstr>Gallery</vt:lpstr>
      <vt:lpstr>Reducing Customer Churn: Final Focus Areas</vt:lpstr>
      <vt:lpstr>Journey </vt:lpstr>
      <vt:lpstr>Goal of This Presentation</vt:lpstr>
      <vt:lpstr>Top Three Focus Areas</vt:lpstr>
      <vt:lpstr>Inactive Customers</vt:lpstr>
      <vt:lpstr>Mid-Age Segment (46–60)</vt:lpstr>
      <vt:lpstr>Single Product Users</vt:lpstr>
      <vt:lpstr>Final Takeaway for Leadership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Soham Patil</cp:lastModifiedBy>
  <cp:revision>2</cp:revision>
  <dcterms:created xsi:type="dcterms:W3CDTF">2013-01-27T09:14:16Z</dcterms:created>
  <dcterms:modified xsi:type="dcterms:W3CDTF">2025-07-03T15:59:40Z</dcterms:modified>
  <cp:category/>
</cp:coreProperties>
</file>